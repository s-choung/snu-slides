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0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2007234"/>
            <a:ext cx="10477500" cy="1275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4000" b="1">
                <a:solidFill>
                  <a:srgbClr val="0F0F70"/>
                </a:solidFill>
                <a:latin typeface="Arial"/>
                <a:ea typeface="Malgun Gothic"/>
              </a:rPr>
              <a:t>Computational Catalysis and Emerging Materials Laboratory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57250" y="3320414"/>
            <a:ext cx="800100" cy="38100"/>
          </a:xfrm>
          <a:prstGeom prst="rect">
            <a:avLst/>
          </a:prstGeom>
          <a:solidFill>
            <a:srgbClr val="C5A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250" y="3453764"/>
            <a:ext cx="10477500" cy="406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  <a:ea typeface="Malgun Gothic"/>
              </a:rPr>
              <a:t>Multiscale catalyst design integrating DFT, machine-learning potentials, and descriptors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0F0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6057900"/>
            <a:ext cx="6496050" cy="8001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  <a:ea typeface="Malgun Gothic"/>
              </a:rPr>
              <a:t>Seokhyun Choung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0" y="6057900"/>
            <a:ext cx="3429000" cy="8001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700" b="0">
                <a:solidFill>
                  <a:srgbClr val="FFFFFF"/>
                </a:solidFill>
                <a:latin typeface="Arial"/>
                <a:ea typeface="Malgun Gothic"/>
              </a:rPr>
              <a:t>June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gradFill>
            <a:gsLst>
              <a:gs pos="0">
                <a:srgbClr val="E9E9F2">
                  <a:alpha val="100000"/>
                </a:srgbClr>
              </a:gs>
              <a:gs pos="60000">
                <a:srgbClr val="E9E9F2">
                  <a:alpha val="35000"/>
                </a:srgbClr>
              </a:gs>
              <a:gs pos="100000">
                <a:srgbClr val="FFFFFF">
                  <a:alpha val="100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직사각형 6"/>
          <p:cNvSpPr/>
          <p:nvPr/>
        </p:nvSpPr>
        <p:spPr>
          <a:xfrm flipV="1">
            <a:off x="0" y="0"/>
            <a:ext cx="1031238" cy="796918"/>
          </a:xfrm>
          <a:prstGeom prst="rect">
            <a:avLst/>
          </a:prstGeom>
          <a:gradFill flip="none" rotWithShape="1">
            <a:gsLst>
              <a:gs pos="11000">
                <a:srgbClr val="060634"/>
              </a:gs>
              <a:gs pos="56000">
                <a:srgbClr val="0F0F70"/>
              </a:gs>
            </a:gsLst>
            <a:lin ang="18900000" scaled="1"/>
            <a:tileRect/>
          </a:gradFill>
          <a:ln>
            <a:noFill/>
          </a:ln>
          <a:effectLst>
            <a:outerShdw blurRad="889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7" latinLnBrk="0"/>
            <a:endParaRPr lang="ko-KR" altLang="en-US" sz="1800" dirty="0">
              <a:solidFill>
                <a:prstClr val="white"/>
              </a:solidFill>
              <a:latin typeface="Arial" panose="020B0604020202020204" pitchFamily="34" charset="0"/>
              <a:ea typeface="맑은 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60008" y="44768"/>
            <a:ext cx="924517" cy="707758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 defTabSz="914307" latinLnBrk="0">
              <a:defRPr/>
            </a:pPr>
            <a:r>
              <a:rPr lang="en-US" altLang="ko-KR" sz="3999" b="1" spc="300" dirty="0">
                <a:solidFill>
                  <a:prstClr val="white">
                    <a:alpha val="30000"/>
                  </a:prstClr>
                </a:solidFill>
                <a:latin typeface="Arial" panose="020B0604020202020204" pitchFamily="34" charset="0"/>
                <a:ea typeface="Malgun Gothic"/>
                <a:cs typeface="Arial" panose="020B0604020202020204" pitchFamily="34" charset="0"/>
              </a:rPr>
              <a:t>0</a:t>
            </a:r>
            <a:r>
              <a:rPr lang="en-US" altLang="ko-KR" sz="3999" b="1" spc="300" dirty="0">
                <a:solidFill>
                  <a:prstClr val="white"/>
                </a:solidFill>
                <a:latin typeface="Arial" panose="020B0604020202020204" pitchFamily="34" charset="0"/>
                <a:ea typeface="Malgun Gothic"/>
                <a:cs typeface="Arial" panose="020B0604020202020204" pitchFamily="34" charset="0"/>
              </a:rPr>
              <a:t>1</a:t>
            </a:r>
            <a:endParaRPr lang="en-US" altLang="ko-KR" sz="3999" b="1" spc="300" dirty="0">
              <a:solidFill>
                <a:prstClr val="white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228725" y="0"/>
            <a:ext cx="3130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07" latinLnBrk="0">
              <a:defRPr/>
            </a:pPr>
            <a:r>
              <a:rPr lang="en-US" altLang="ko-KR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Malgun Gothic" panose="020B0600000101010101" pitchFamily="50" charset="-127"/>
                <a:cs typeface="Arial" panose="020B0604020202020204" pitchFamily="34" charset="0"/>
              </a:rPr>
              <a:t>Motivation</a:t>
            </a:r>
          </a:p>
        </p:txBody>
      </p:sp>
      <p:sp>
        <p:nvSpPr>
          <p:cNvPr id="6" name="사각형: 둥근 모서리 6"/>
          <p:cNvSpPr/>
          <p:nvPr/>
        </p:nvSpPr>
        <p:spPr>
          <a:xfrm>
            <a:off x="1228725" y="379095"/>
            <a:ext cx="611968" cy="287985"/>
          </a:xfrm>
          <a:prstGeom prst="roundRect">
            <a:avLst>
              <a:gd name="adj" fmla="val 50000"/>
            </a:avLst>
          </a:prstGeom>
          <a:solidFill>
            <a:srgbClr val="C5A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ea typeface="Malgun Gothic"/>
              </a:rPr>
              <a:t>1.1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8"/>
          <p:cNvSpPr txBox="1"/>
          <p:nvPr/>
        </p:nvSpPr>
        <p:spPr>
          <a:xfrm>
            <a:off x="1965008" y="254318"/>
            <a:ext cx="9826942" cy="49815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latinLnBrk="0"/>
            <a:r>
              <a:rPr kumimoji="1" lang="en-US" altLang="en-US" sz="2400" dirty="0">
                <a:latin typeface="Arial" panose="020B0604020202020204" pitchFamily="34" charset="0"/>
                <a:ea typeface="Malgun Gothic" panose="020B0600000101010101" pitchFamily="50" charset="-127"/>
                <a:cs typeface="Arial" panose="020B0604020202020204" pitchFamily="34" charset="0"/>
              </a:rPr>
              <a:t>Why Study Catalysis Computationally</a:t>
            </a:r>
            <a:endParaRPr kumimoji="1" lang="ko-KR" altLang="en-US" sz="2400" dirty="0">
              <a:latin typeface="Arial" panose="020B0604020202020204" pitchFamily="34" charset="0"/>
              <a:ea typeface="맑은 고딕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모서리가 둥근 직사각형 13"/>
          <p:cNvSpPr/>
          <p:nvPr/>
        </p:nvSpPr>
        <p:spPr>
          <a:xfrm>
            <a:off x="400050" y="1066800"/>
            <a:ext cx="6324600" cy="381000"/>
          </a:xfrm>
          <a:prstGeom prst="roundRect">
            <a:avLst/>
          </a:prstGeom>
          <a:solidFill>
            <a:srgbClr val="0F0F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20000"/>
              </a:lnSpc>
            </a:pPr>
            <a:r>
              <a:rPr lang="en-KR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ea typeface="Malgun Gothic"/>
              </a:rPr>
              <a:t>Reaching what experiments cannot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0050" y="1581150"/>
            <a:ext cx="11391900" cy="1228725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0F0F70"/>
                </a:solidFill>
                <a:latin typeface="Arial"/>
                <a:ea typeface="Malgun Gothic"/>
              </a:rPr>
              <a:t>✓  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Reaction intermediates live for only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ps–ns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, so in-situ observation is hard — computation delivers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atomic-scale snapshots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0F0F70"/>
                </a:solidFill>
                <a:latin typeface="Arial"/>
                <a:ea typeface="Malgun Gothic"/>
              </a:rPr>
              <a:t>✓  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Active-site candidates explode to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10⁴–10⁶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 combinations — purely experimental screening is too costly and slow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0F0F70"/>
                </a:solidFill>
                <a:latin typeface="Arial"/>
                <a:ea typeface="Malgun Gothic"/>
              </a:rPr>
              <a:t>✓  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Trace activity and selectivity back to their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electronic-structure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 origin, distilling them into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design principles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0050" y="2847975"/>
            <a:ext cx="11391900" cy="70485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→ Computation accelerates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hypothesis generation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 and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candidate selection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, letting experiments focus on validation — a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closed loop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0050" y="6534150"/>
            <a:ext cx="11391900" cy="24765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400" i="1">
                <a:solidFill>
                  <a:srgbClr val="697A82"/>
                </a:solidFill>
                <a:latin typeface="Arial"/>
                <a:ea typeface="Malgun Gothic"/>
              </a:rPr>
              <a:t>Key idea: computation does not replace experiment — it </a:t>
            </a:r>
            <a:r>
              <a:rPr b="1" sz="1400" i="1">
                <a:solidFill>
                  <a:srgbClr val="C00000"/>
                </a:solidFill>
                <a:latin typeface="Arial"/>
                <a:ea typeface="Malgun Gothic"/>
              </a:rPr>
              <a:t>narrows the search 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gradFill>
            <a:gsLst>
              <a:gs pos="0">
                <a:srgbClr val="E9E9F2">
                  <a:alpha val="100000"/>
                </a:srgbClr>
              </a:gs>
              <a:gs pos="60000">
                <a:srgbClr val="E9E9F2">
                  <a:alpha val="35000"/>
                </a:srgbClr>
              </a:gs>
              <a:gs pos="100000">
                <a:srgbClr val="FFFFFF">
                  <a:alpha val="100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직사각형 6"/>
          <p:cNvSpPr/>
          <p:nvPr/>
        </p:nvSpPr>
        <p:spPr>
          <a:xfrm flipV="1">
            <a:off x="0" y="0"/>
            <a:ext cx="1031238" cy="796918"/>
          </a:xfrm>
          <a:prstGeom prst="rect">
            <a:avLst/>
          </a:prstGeom>
          <a:gradFill flip="none" rotWithShape="1">
            <a:gsLst>
              <a:gs pos="11000">
                <a:srgbClr val="060634"/>
              </a:gs>
              <a:gs pos="56000">
                <a:srgbClr val="0F0F70"/>
              </a:gs>
            </a:gsLst>
            <a:lin ang="18900000" scaled="1"/>
            <a:tileRect/>
          </a:gradFill>
          <a:ln>
            <a:noFill/>
          </a:ln>
          <a:effectLst>
            <a:outerShdw blurRad="889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7" latinLnBrk="0"/>
            <a:endParaRPr lang="ko-KR" altLang="en-US" sz="1800" dirty="0">
              <a:solidFill>
                <a:prstClr val="white"/>
              </a:solidFill>
              <a:latin typeface="Arial" panose="020B0604020202020204" pitchFamily="34" charset="0"/>
              <a:ea typeface="맑은 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60008" y="44768"/>
            <a:ext cx="924517" cy="707758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 defTabSz="914307" latinLnBrk="0">
              <a:defRPr/>
            </a:pPr>
            <a:r>
              <a:rPr lang="en-US" altLang="ko-KR" sz="3999" b="1" spc="300" dirty="0">
                <a:solidFill>
                  <a:prstClr val="white">
                    <a:alpha val="30000"/>
                  </a:prstClr>
                </a:solidFill>
                <a:latin typeface="Arial" panose="020B0604020202020204" pitchFamily="34" charset="0"/>
                <a:ea typeface="Malgun Gothic"/>
                <a:cs typeface="Arial" panose="020B0604020202020204" pitchFamily="34" charset="0"/>
              </a:rPr>
              <a:t>0</a:t>
            </a:r>
            <a:r>
              <a:rPr lang="en-US" altLang="ko-KR" sz="3999" b="1" spc="300" dirty="0">
                <a:solidFill>
                  <a:prstClr val="white"/>
                </a:solidFill>
                <a:latin typeface="Arial" panose="020B0604020202020204" pitchFamily="34" charset="0"/>
                <a:ea typeface="Malgun Gothic"/>
                <a:cs typeface="Arial" panose="020B0604020202020204" pitchFamily="34" charset="0"/>
              </a:rPr>
              <a:t>2</a:t>
            </a:r>
            <a:endParaRPr lang="en-US" altLang="ko-KR" sz="3999" b="1" spc="300" dirty="0">
              <a:solidFill>
                <a:prstClr val="white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228725" y="0"/>
            <a:ext cx="3130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07" latinLnBrk="0">
              <a:defRPr/>
            </a:pPr>
            <a:r>
              <a:rPr lang="en-US" altLang="ko-KR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Malgun Gothic" panose="020B0600000101010101" pitchFamily="50" charset="-127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6" name="사각형: 둥근 모서리 6"/>
          <p:cNvSpPr/>
          <p:nvPr/>
        </p:nvSpPr>
        <p:spPr>
          <a:xfrm>
            <a:off x="1228725" y="379095"/>
            <a:ext cx="611968" cy="287985"/>
          </a:xfrm>
          <a:prstGeom prst="roundRect">
            <a:avLst>
              <a:gd name="adj" fmla="val 50000"/>
            </a:avLst>
          </a:prstGeom>
          <a:solidFill>
            <a:srgbClr val="C5A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ea typeface="Malgun Gothic"/>
              </a:rPr>
              <a:t>2.1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8"/>
          <p:cNvSpPr txBox="1"/>
          <p:nvPr/>
        </p:nvSpPr>
        <p:spPr>
          <a:xfrm>
            <a:off x="1965008" y="254318"/>
            <a:ext cx="9826942" cy="49815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latinLnBrk="0"/>
            <a:r>
              <a:rPr kumimoji="1" lang="en-US" altLang="en-US" sz="2400" dirty="0">
                <a:latin typeface="Arial" panose="020B0604020202020204" pitchFamily="34" charset="0"/>
                <a:ea typeface="Malgun Gothic" panose="020B0600000101010101" pitchFamily="50" charset="-127"/>
                <a:cs typeface="Arial" panose="020B0604020202020204" pitchFamily="34" charset="0"/>
              </a:rPr>
              <a:t>A Multiscale Computational Stack</a:t>
            </a:r>
            <a:endParaRPr kumimoji="1" lang="ko-KR" altLang="en-US" sz="2400" dirty="0">
              <a:latin typeface="Arial" panose="020B0604020202020204" pitchFamily="34" charset="0"/>
              <a:ea typeface="맑은 고딕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사각형: 둥근 모서리 15"/>
          <p:cNvSpPr/>
          <p:nvPr/>
        </p:nvSpPr>
        <p:spPr>
          <a:xfrm>
            <a:off x="400050" y="1066800"/>
            <a:ext cx="3683000" cy="5314950"/>
          </a:xfrm>
          <a:prstGeom prst="roundRect">
            <a:avLst>
              <a:gd name="adj" fmla="val 2939"/>
            </a:avLst>
          </a:prstGeom>
          <a:solidFill>
            <a:schemeClr val="bg1"/>
          </a:solidFill>
          <a:ln w="28575">
            <a:solidFill>
              <a:srgbClr val="0F0F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b="1" dirty="0">
              <a:latin typeface="Arial" panose="020B0604020202020204" pitchFamily="34" charset="0"/>
              <a:ea typeface="맑은 고딕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TextBox 34"/>
          <p:cNvSpPr txBox="1"/>
          <p:nvPr/>
        </p:nvSpPr>
        <p:spPr>
          <a:xfrm>
            <a:off x="552450" y="1181100"/>
            <a:ext cx="3378200" cy="508635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0F0F70"/>
                </a:solidFill>
                <a:latin typeface="Arial"/>
                <a:ea typeface="Malgun Gothic"/>
              </a:rPr>
              <a:t>DFT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Adsorption energies, transition states, and the d-band center from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first principles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. The accuracy benchmark (ground truth), but it stalls at the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few-hundred-atom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 scale.</a:t>
            </a:r>
          </a:p>
        </p:txBody>
      </p:sp>
      <p:sp>
        <p:nvSpPr>
          <p:cNvPr id="10" name="사각형: 둥근 모서리 15"/>
          <p:cNvSpPr/>
          <p:nvPr/>
        </p:nvSpPr>
        <p:spPr>
          <a:xfrm>
            <a:off x="4254500" y="1066800"/>
            <a:ext cx="3683000" cy="5314950"/>
          </a:xfrm>
          <a:prstGeom prst="roundRect">
            <a:avLst>
              <a:gd name="adj" fmla="val 2939"/>
            </a:avLst>
          </a:prstGeom>
          <a:solidFill>
            <a:schemeClr val="bg1"/>
          </a:solidFill>
          <a:ln w="28575">
            <a:solidFill>
              <a:srgbClr val="0F0F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b="1" dirty="0">
              <a:latin typeface="Arial" panose="020B0604020202020204" pitchFamily="34" charset="0"/>
              <a:ea typeface="맑은 고딕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1" name="TextBox 35"/>
          <p:cNvSpPr txBox="1"/>
          <p:nvPr/>
        </p:nvSpPr>
        <p:spPr>
          <a:xfrm>
            <a:off x="4406900" y="1181100"/>
            <a:ext cx="3378200" cy="508635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0F0F70"/>
                </a:solidFill>
                <a:latin typeface="Arial"/>
                <a:ea typeface="Malgun Gothic"/>
              </a:rPr>
              <a:t>ML Potentials</a:t>
            </a:r>
          </a:p>
          <a:p>
            <a:pPr algn="l"/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MLIPs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 (NequIP, MACE) trained on DFT give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DFT accuracy at MD speed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 — extending to nanoparticles, dynamics, and ensemble sampling.</a:t>
            </a:r>
          </a:p>
        </p:txBody>
      </p:sp>
      <p:sp>
        <p:nvSpPr>
          <p:cNvPr id="12" name="사각형: 둥근 모서리 15"/>
          <p:cNvSpPr/>
          <p:nvPr/>
        </p:nvSpPr>
        <p:spPr>
          <a:xfrm>
            <a:off x="8108950" y="1066800"/>
            <a:ext cx="3683000" cy="5314950"/>
          </a:xfrm>
          <a:prstGeom prst="roundRect">
            <a:avLst>
              <a:gd name="adj" fmla="val 2939"/>
            </a:avLst>
          </a:prstGeom>
          <a:solidFill>
            <a:schemeClr val="bg1"/>
          </a:solidFill>
          <a:ln w="28575">
            <a:solidFill>
              <a:srgbClr val="0F0F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b="1" dirty="0">
              <a:latin typeface="Arial" panose="020B0604020202020204" pitchFamily="34" charset="0"/>
              <a:ea typeface="맑은 고딕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8261350" y="1181100"/>
            <a:ext cx="3378200" cy="508635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0F0F70"/>
                </a:solidFill>
                <a:latin typeface="Arial"/>
                <a:ea typeface="Malgun Gothic"/>
              </a:rPr>
              <a:t>Microkinetics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Feed computed energies into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rate equations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 to compare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turnover frequency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, the rate-determining step, and reaction orders directly with experiment.</a:t>
            </a:r>
          </a:p>
        </p:txBody>
      </p:sp>
      <p:sp>
        <p:nvSpPr>
          <p:cNvPr id="14" name="TextBox 37"/>
          <p:cNvSpPr txBox="1"/>
          <p:nvPr/>
        </p:nvSpPr>
        <p:spPr>
          <a:xfrm>
            <a:off x="400050" y="6534150"/>
            <a:ext cx="11391900" cy="24765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400" i="1">
                <a:solidFill>
                  <a:srgbClr val="697A82"/>
                </a:solidFill>
                <a:latin typeface="Arial"/>
                <a:ea typeface="Malgun Gothic"/>
              </a:rPr>
              <a:t>A pipeline that </a:t>
            </a:r>
            <a:r>
              <a:rPr b="1" sz="1400" i="1">
                <a:solidFill>
                  <a:srgbClr val="C00000"/>
                </a:solidFill>
                <a:latin typeface="Arial"/>
                <a:ea typeface="Malgun Gothic"/>
              </a:rPr>
              <a:t>bridges scales</a:t>
            </a:r>
            <a:r>
              <a:rPr sz="1400" i="1">
                <a:solidFill>
                  <a:srgbClr val="697A82"/>
                </a:solidFill>
                <a:latin typeface="Arial"/>
                <a:ea typeface="Malgun Gothic"/>
              </a:rPr>
              <a:t> — from atoms to nanoparticles to reactor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gradFill>
            <a:gsLst>
              <a:gs pos="0">
                <a:srgbClr val="E9E9F2">
                  <a:alpha val="100000"/>
                </a:srgbClr>
              </a:gs>
              <a:gs pos="60000">
                <a:srgbClr val="E9E9F2">
                  <a:alpha val="35000"/>
                </a:srgbClr>
              </a:gs>
              <a:gs pos="100000">
                <a:srgbClr val="FFFFFF">
                  <a:alpha val="100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직사각형 6"/>
          <p:cNvSpPr/>
          <p:nvPr/>
        </p:nvSpPr>
        <p:spPr>
          <a:xfrm flipV="1">
            <a:off x="0" y="0"/>
            <a:ext cx="1031238" cy="796918"/>
          </a:xfrm>
          <a:prstGeom prst="rect">
            <a:avLst/>
          </a:prstGeom>
          <a:gradFill flip="none" rotWithShape="1">
            <a:gsLst>
              <a:gs pos="11000">
                <a:srgbClr val="060634"/>
              </a:gs>
              <a:gs pos="56000">
                <a:srgbClr val="0F0F70"/>
              </a:gs>
            </a:gsLst>
            <a:lin ang="18900000" scaled="1"/>
            <a:tileRect/>
          </a:gradFill>
          <a:ln>
            <a:noFill/>
          </a:ln>
          <a:effectLst>
            <a:outerShdw blurRad="889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7" latinLnBrk="0"/>
            <a:endParaRPr lang="ko-KR" altLang="en-US" sz="1800" dirty="0">
              <a:solidFill>
                <a:prstClr val="white"/>
              </a:solidFill>
              <a:latin typeface="Arial" panose="020B0604020202020204" pitchFamily="34" charset="0"/>
              <a:ea typeface="맑은 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60008" y="44768"/>
            <a:ext cx="924517" cy="707758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 defTabSz="914307" latinLnBrk="0">
              <a:defRPr/>
            </a:pPr>
            <a:r>
              <a:rPr lang="en-US" altLang="ko-KR" sz="3999" b="1" spc="300" dirty="0">
                <a:solidFill>
                  <a:prstClr val="white">
                    <a:alpha val="30000"/>
                  </a:prstClr>
                </a:solidFill>
                <a:latin typeface="Arial" panose="020B0604020202020204" pitchFamily="34" charset="0"/>
                <a:ea typeface="Malgun Gothic"/>
                <a:cs typeface="Arial" panose="020B0604020202020204" pitchFamily="34" charset="0"/>
              </a:rPr>
              <a:t>0</a:t>
            </a:r>
            <a:r>
              <a:rPr lang="en-US" altLang="ko-KR" sz="3999" b="1" spc="300" dirty="0">
                <a:solidFill>
                  <a:prstClr val="white"/>
                </a:solidFill>
                <a:latin typeface="Arial" panose="020B0604020202020204" pitchFamily="34" charset="0"/>
                <a:ea typeface="Malgun Gothic"/>
                <a:cs typeface="Arial" panose="020B0604020202020204" pitchFamily="34" charset="0"/>
              </a:rPr>
              <a:t>3</a:t>
            </a:r>
            <a:endParaRPr lang="en-US" altLang="ko-KR" sz="3999" b="1" spc="300" dirty="0">
              <a:solidFill>
                <a:prstClr val="white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228725" y="0"/>
            <a:ext cx="3130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07" latinLnBrk="0">
              <a:defRPr/>
            </a:pPr>
            <a:r>
              <a:rPr lang="en-US" altLang="ko-KR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Malgun Gothic" panose="020B0600000101010101" pitchFamily="50" charset="-127"/>
                <a:cs typeface="Arial" panose="020B0604020202020204" pitchFamily="34" charset="0"/>
              </a:rPr>
              <a:t>Design Principle</a:t>
            </a:r>
          </a:p>
        </p:txBody>
      </p:sp>
      <p:sp>
        <p:nvSpPr>
          <p:cNvPr id="6" name="사각형: 둥근 모서리 6"/>
          <p:cNvSpPr/>
          <p:nvPr/>
        </p:nvSpPr>
        <p:spPr>
          <a:xfrm>
            <a:off x="1228725" y="379095"/>
            <a:ext cx="611968" cy="287985"/>
          </a:xfrm>
          <a:prstGeom prst="roundRect">
            <a:avLst>
              <a:gd name="adj" fmla="val 50000"/>
            </a:avLst>
          </a:prstGeom>
          <a:solidFill>
            <a:srgbClr val="C5A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ea typeface="Malgun Gothic"/>
              </a:rPr>
              <a:t>3.1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8"/>
          <p:cNvSpPr txBox="1"/>
          <p:nvPr/>
        </p:nvSpPr>
        <p:spPr>
          <a:xfrm>
            <a:off x="1965008" y="254318"/>
            <a:ext cx="9826942" cy="49815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latinLnBrk="0"/>
            <a:r>
              <a:rPr kumimoji="1" lang="en-US" altLang="en-US" sz="2400" dirty="0">
                <a:latin typeface="Arial" panose="020B0604020202020204" pitchFamily="34" charset="0"/>
                <a:ea typeface="Malgun Gothic" panose="020B0600000101010101" pitchFamily="50" charset="-127"/>
                <a:cs typeface="Arial" panose="020B0604020202020204" pitchFamily="34" charset="0"/>
              </a:rPr>
              <a:t>Descriptors and Scaling Relations</a:t>
            </a:r>
            <a:endParaRPr kumimoji="1" lang="ko-KR" altLang="en-US" sz="2400" dirty="0">
              <a:latin typeface="Arial" panose="020B0604020202020204" pitchFamily="34" charset="0"/>
              <a:ea typeface="맑은 고딕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모서리가 둥근 직사각형 13"/>
          <p:cNvSpPr/>
          <p:nvPr/>
        </p:nvSpPr>
        <p:spPr>
          <a:xfrm>
            <a:off x="400050" y="1066800"/>
            <a:ext cx="9401175" cy="381000"/>
          </a:xfrm>
          <a:prstGeom prst="roundRect">
            <a:avLst/>
          </a:prstGeom>
          <a:solidFill>
            <a:srgbClr val="0F0F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20000"/>
              </a:lnSpc>
            </a:pPr>
            <a:r>
              <a:rPr lang="en-KR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ea typeface="Malgun Gothic"/>
              </a:rPr>
              <a:t>Compressing complex activity into a few variables</a:t>
            </a:r>
          </a:p>
        </p:txBody>
      </p:sp>
      <p:sp>
        <p:nvSpPr>
          <p:cNvPr id="9" name="사각형: 둥근 모서리 15"/>
          <p:cNvSpPr/>
          <p:nvPr/>
        </p:nvSpPr>
        <p:spPr>
          <a:xfrm>
            <a:off x="400050" y="1581150"/>
            <a:ext cx="5610225" cy="2095500"/>
          </a:xfrm>
          <a:prstGeom prst="roundRect">
            <a:avLst>
              <a:gd name="adj" fmla="val 2939"/>
            </a:avLst>
          </a:prstGeom>
          <a:solidFill>
            <a:schemeClr val="bg1"/>
          </a:solidFill>
          <a:ln w="28575">
            <a:solidFill>
              <a:srgbClr val="0F0F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b="1" dirty="0">
              <a:latin typeface="Arial" panose="020B0604020202020204" pitchFamily="34" charset="0"/>
              <a:ea typeface="맑은 고딕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TextBox 34"/>
          <p:cNvSpPr txBox="1"/>
          <p:nvPr/>
        </p:nvSpPr>
        <p:spPr>
          <a:xfrm>
            <a:off x="552450" y="1695450"/>
            <a:ext cx="5305425" cy="18669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0F0F70"/>
                </a:solidFill>
                <a:latin typeface="Arial"/>
                <a:ea typeface="Malgun Gothic"/>
              </a:rPr>
              <a:t>Scaling relations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Adsorbate energies are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linearly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 coupled, so a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single descriptor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 (e.g. O binding energy) can predict activity.</a:t>
            </a:r>
          </a:p>
        </p:txBody>
      </p:sp>
      <p:sp>
        <p:nvSpPr>
          <p:cNvPr id="11" name="사각형: 둥근 모서리 15"/>
          <p:cNvSpPr/>
          <p:nvPr/>
        </p:nvSpPr>
        <p:spPr>
          <a:xfrm>
            <a:off x="6181725" y="1581150"/>
            <a:ext cx="5610225" cy="2095500"/>
          </a:xfrm>
          <a:prstGeom prst="roundRect">
            <a:avLst>
              <a:gd name="adj" fmla="val 2939"/>
            </a:avLst>
          </a:prstGeom>
          <a:solidFill>
            <a:schemeClr val="bg1"/>
          </a:solidFill>
          <a:ln w="28575">
            <a:solidFill>
              <a:srgbClr val="0F0F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b="1" dirty="0">
              <a:latin typeface="Arial" panose="020B0604020202020204" pitchFamily="34" charset="0"/>
              <a:ea typeface="맑은 고딕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" name="TextBox 35"/>
          <p:cNvSpPr txBox="1"/>
          <p:nvPr/>
        </p:nvSpPr>
        <p:spPr>
          <a:xfrm>
            <a:off x="6334125" y="1695450"/>
            <a:ext cx="5305425" cy="18669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0F0F70"/>
                </a:solidFill>
                <a:latin typeface="Arial"/>
                <a:ea typeface="Malgun Gothic"/>
              </a:rPr>
              <a:t>Sabatier volcano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Bind too weakly and nothing activates; bind too strongly and the surface poisons —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an optimum exists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.</a:t>
            </a:r>
          </a:p>
        </p:txBody>
      </p:sp>
      <p:sp>
        <p:nvSpPr>
          <p:cNvPr id="13" name="TextBox 36"/>
          <p:cNvSpPr txBox="1"/>
          <p:nvPr/>
        </p:nvSpPr>
        <p:spPr>
          <a:xfrm>
            <a:off x="400050" y="3790950"/>
            <a:ext cx="2800350" cy="40005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ctr"/>
            <a:r>
              <a:rPr sz="2800" b="1">
                <a:solidFill>
                  <a:srgbClr val="0F0F70"/>
                </a:solidFill>
                <a:latin typeface="Arial"/>
                <a:ea typeface="Malgun Gothic"/>
              </a:rPr>
              <a:t>1–2</a:t>
            </a:r>
          </a:p>
        </p:txBody>
      </p:sp>
      <p:sp>
        <p:nvSpPr>
          <p:cNvPr id="14" name="TextBox 37"/>
          <p:cNvSpPr txBox="1"/>
          <p:nvPr/>
        </p:nvSpPr>
        <p:spPr>
          <a:xfrm>
            <a:off x="400050" y="4191000"/>
            <a:ext cx="2800350" cy="20955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697A82"/>
                </a:solidFill>
                <a:latin typeface="Arial"/>
                <a:ea typeface="Malgun Gothic"/>
              </a:rPr>
              <a:t>governing descriptors</a:t>
            </a:r>
          </a:p>
        </p:txBody>
      </p:sp>
      <p:sp>
        <p:nvSpPr>
          <p:cNvPr id="15" name="TextBox 38"/>
          <p:cNvSpPr txBox="1"/>
          <p:nvPr/>
        </p:nvSpPr>
        <p:spPr>
          <a:xfrm>
            <a:off x="3429000" y="3790950"/>
            <a:ext cx="3067050" cy="40005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ctr"/>
            <a:r>
              <a:rPr sz="2800" b="1">
                <a:solidFill>
                  <a:srgbClr val="0F0F70"/>
                </a:solidFill>
                <a:latin typeface="Arial"/>
                <a:ea typeface="Malgun Gothic"/>
              </a:rPr>
              <a:t>&lt;0.2 eV</a:t>
            </a:r>
          </a:p>
        </p:txBody>
      </p:sp>
      <p:sp>
        <p:nvSpPr>
          <p:cNvPr id="16" name="TextBox 39"/>
          <p:cNvSpPr txBox="1"/>
          <p:nvPr/>
        </p:nvSpPr>
        <p:spPr>
          <a:xfrm>
            <a:off x="3429000" y="4191000"/>
            <a:ext cx="3067050" cy="20955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697A82"/>
                </a:solidFill>
                <a:latin typeface="Arial"/>
                <a:ea typeface="Malgun Gothic"/>
              </a:rPr>
              <a:t>target prediction error</a:t>
            </a:r>
          </a:p>
        </p:txBody>
      </p:sp>
      <p:sp>
        <p:nvSpPr>
          <p:cNvPr id="17" name="TextBox 40"/>
          <p:cNvSpPr txBox="1"/>
          <p:nvPr/>
        </p:nvSpPr>
        <p:spPr>
          <a:xfrm>
            <a:off x="400050" y="6534150"/>
            <a:ext cx="11391900" cy="24765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400" i="1">
                <a:solidFill>
                  <a:srgbClr val="697A82"/>
                </a:solidFill>
                <a:latin typeface="Arial"/>
                <a:ea typeface="Malgun Gothic"/>
              </a:rPr>
              <a:t>Next-generation design targets sites that </a:t>
            </a:r>
            <a:r>
              <a:rPr b="1" sz="1400" i="1">
                <a:solidFill>
                  <a:srgbClr val="C00000"/>
                </a:solidFill>
                <a:latin typeface="Arial"/>
                <a:ea typeface="Malgun Gothic"/>
              </a:rPr>
              <a:t>break scaling</a:t>
            </a:r>
            <a:r>
              <a:rPr sz="1400" i="1">
                <a:solidFill>
                  <a:srgbClr val="697A82"/>
                </a:solidFill>
                <a:latin typeface="Arial"/>
                <a:ea typeface="Malgun Gothic"/>
              </a:rPr>
              <a:t> — multimetallics and interfaces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gradFill>
            <a:gsLst>
              <a:gs pos="0">
                <a:srgbClr val="E9E9F2">
                  <a:alpha val="100000"/>
                </a:srgbClr>
              </a:gs>
              <a:gs pos="60000">
                <a:srgbClr val="E9E9F2">
                  <a:alpha val="35000"/>
                </a:srgbClr>
              </a:gs>
              <a:gs pos="100000">
                <a:srgbClr val="FFFFFF">
                  <a:alpha val="100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직사각형 6"/>
          <p:cNvSpPr/>
          <p:nvPr/>
        </p:nvSpPr>
        <p:spPr>
          <a:xfrm flipV="1">
            <a:off x="0" y="0"/>
            <a:ext cx="1031238" cy="796918"/>
          </a:xfrm>
          <a:prstGeom prst="rect">
            <a:avLst/>
          </a:prstGeom>
          <a:gradFill flip="none" rotWithShape="1">
            <a:gsLst>
              <a:gs pos="11000">
                <a:srgbClr val="060634"/>
              </a:gs>
              <a:gs pos="56000">
                <a:srgbClr val="0F0F70"/>
              </a:gs>
            </a:gsLst>
            <a:lin ang="18900000" scaled="1"/>
            <a:tileRect/>
          </a:gradFill>
          <a:ln>
            <a:noFill/>
          </a:ln>
          <a:effectLst>
            <a:outerShdw blurRad="889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7" latinLnBrk="0"/>
            <a:endParaRPr lang="ko-KR" altLang="en-US" sz="1800" dirty="0">
              <a:solidFill>
                <a:prstClr val="white"/>
              </a:solidFill>
              <a:latin typeface="Arial" panose="020B0604020202020204" pitchFamily="34" charset="0"/>
              <a:ea typeface="맑은 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60008" y="44768"/>
            <a:ext cx="924517" cy="707758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 defTabSz="914307" latinLnBrk="0">
              <a:defRPr/>
            </a:pPr>
            <a:r>
              <a:rPr lang="en-US" altLang="ko-KR" sz="3999" b="1" spc="300" dirty="0">
                <a:solidFill>
                  <a:prstClr val="white">
                    <a:alpha val="30000"/>
                  </a:prstClr>
                </a:solidFill>
                <a:latin typeface="Arial" panose="020B0604020202020204" pitchFamily="34" charset="0"/>
                <a:ea typeface="Malgun Gothic"/>
                <a:cs typeface="Arial" panose="020B0604020202020204" pitchFamily="34" charset="0"/>
              </a:rPr>
              <a:t>0</a:t>
            </a:r>
            <a:r>
              <a:rPr lang="en-US" altLang="ko-KR" sz="3999" b="1" spc="300" dirty="0">
                <a:solidFill>
                  <a:prstClr val="white"/>
                </a:solidFill>
                <a:latin typeface="Arial" panose="020B0604020202020204" pitchFamily="34" charset="0"/>
                <a:ea typeface="Malgun Gothic"/>
                <a:cs typeface="Arial" panose="020B0604020202020204" pitchFamily="34" charset="0"/>
              </a:rPr>
              <a:t>4</a:t>
            </a:r>
            <a:endParaRPr lang="en-US" altLang="ko-KR" sz="3999" b="1" spc="300" dirty="0">
              <a:solidFill>
                <a:prstClr val="white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228725" y="0"/>
            <a:ext cx="3130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07" latinLnBrk="0">
              <a:defRPr/>
            </a:pPr>
            <a:r>
              <a:rPr lang="en-US" altLang="ko-KR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Malgun Gothic" panose="020B0600000101010101" pitchFamily="50" charset="-127"/>
                <a:cs typeface="Arial" panose="020B0604020202020204" pitchFamily="34" charset="0"/>
              </a:rPr>
              <a:t>Workflow</a:t>
            </a:r>
          </a:p>
        </p:txBody>
      </p:sp>
      <p:sp>
        <p:nvSpPr>
          <p:cNvPr id="6" name="사각형: 둥근 모서리 6"/>
          <p:cNvSpPr/>
          <p:nvPr/>
        </p:nvSpPr>
        <p:spPr>
          <a:xfrm>
            <a:off x="1228725" y="379095"/>
            <a:ext cx="611968" cy="287985"/>
          </a:xfrm>
          <a:prstGeom prst="roundRect">
            <a:avLst>
              <a:gd name="adj" fmla="val 50000"/>
            </a:avLst>
          </a:prstGeom>
          <a:solidFill>
            <a:srgbClr val="C5A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ea typeface="Malgun Gothic"/>
              </a:rPr>
              <a:t>4.1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8"/>
          <p:cNvSpPr txBox="1"/>
          <p:nvPr/>
        </p:nvSpPr>
        <p:spPr>
          <a:xfrm>
            <a:off x="1965008" y="254318"/>
            <a:ext cx="9826942" cy="49815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latinLnBrk="0"/>
            <a:r>
              <a:rPr kumimoji="1" lang="en-US" altLang="en-US" sz="2400" dirty="0">
                <a:latin typeface="Arial" panose="020B0604020202020204" pitchFamily="34" charset="0"/>
                <a:ea typeface="Malgun Gothic" panose="020B0600000101010101" pitchFamily="50" charset="-127"/>
                <a:cs typeface="Arial" panose="020B0604020202020204" pitchFamily="34" charset="0"/>
              </a:rPr>
              <a:t>From ML Screening to Experiment</a:t>
            </a:r>
            <a:endParaRPr kumimoji="1" lang="ko-KR" altLang="en-US" sz="2400" dirty="0">
              <a:latin typeface="Arial" panose="020B0604020202020204" pitchFamily="34" charset="0"/>
              <a:ea typeface="맑은 고딕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사각형: 둥근 모서리 15"/>
          <p:cNvSpPr/>
          <p:nvPr/>
        </p:nvSpPr>
        <p:spPr>
          <a:xfrm>
            <a:off x="400050" y="1066800"/>
            <a:ext cx="3683000" cy="5314950"/>
          </a:xfrm>
          <a:prstGeom prst="roundRect">
            <a:avLst>
              <a:gd name="adj" fmla="val 2939"/>
            </a:avLst>
          </a:prstGeom>
          <a:solidFill>
            <a:schemeClr val="bg1"/>
          </a:solidFill>
          <a:ln w="28575">
            <a:solidFill>
              <a:srgbClr val="0F0F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b="1" dirty="0">
              <a:latin typeface="Arial" panose="020B0604020202020204" pitchFamily="34" charset="0"/>
              <a:ea typeface="맑은 고딕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TextBox 34"/>
          <p:cNvSpPr txBox="1"/>
          <p:nvPr/>
        </p:nvSpPr>
        <p:spPr>
          <a:xfrm>
            <a:off x="552450" y="1181100"/>
            <a:ext cx="3378200" cy="508635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0F0F70"/>
                </a:solidFill>
                <a:latin typeface="Arial"/>
                <a:ea typeface="Malgun Gothic"/>
              </a:rPr>
              <a:t>① Generate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Combine compositions, facets, and defects into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tens of thousands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 of candidate structures; pre-filter stability with an MLIP.</a:t>
            </a:r>
          </a:p>
        </p:txBody>
      </p:sp>
      <p:sp>
        <p:nvSpPr>
          <p:cNvPr id="10" name="사각형: 둥근 모서리 15"/>
          <p:cNvSpPr/>
          <p:nvPr/>
        </p:nvSpPr>
        <p:spPr>
          <a:xfrm>
            <a:off x="4254500" y="1066800"/>
            <a:ext cx="3683000" cy="5314950"/>
          </a:xfrm>
          <a:prstGeom prst="roundRect">
            <a:avLst>
              <a:gd name="adj" fmla="val 2939"/>
            </a:avLst>
          </a:prstGeom>
          <a:solidFill>
            <a:schemeClr val="bg1"/>
          </a:solidFill>
          <a:ln w="28575">
            <a:solidFill>
              <a:srgbClr val="0F0F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b="1" dirty="0">
              <a:latin typeface="Arial" panose="020B0604020202020204" pitchFamily="34" charset="0"/>
              <a:ea typeface="맑은 고딕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1" name="TextBox 35"/>
          <p:cNvSpPr txBox="1"/>
          <p:nvPr/>
        </p:nvSpPr>
        <p:spPr>
          <a:xfrm>
            <a:off x="4406900" y="1181100"/>
            <a:ext cx="3378200" cy="508635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0F0F70"/>
                </a:solidFill>
                <a:latin typeface="Arial"/>
                <a:ea typeface="Malgun Gothic"/>
              </a:rPr>
              <a:t>② Predict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Regress activity and selectivity with descriptors and graph neural networks;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quantify uncertainty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 to actively pick the next calculation (active learning).</a:t>
            </a:r>
          </a:p>
        </p:txBody>
      </p:sp>
      <p:sp>
        <p:nvSpPr>
          <p:cNvPr id="12" name="사각형: 둥근 모서리 15"/>
          <p:cNvSpPr/>
          <p:nvPr/>
        </p:nvSpPr>
        <p:spPr>
          <a:xfrm>
            <a:off x="8108950" y="1066800"/>
            <a:ext cx="3683000" cy="5314950"/>
          </a:xfrm>
          <a:prstGeom prst="roundRect">
            <a:avLst>
              <a:gd name="adj" fmla="val 2939"/>
            </a:avLst>
          </a:prstGeom>
          <a:solidFill>
            <a:schemeClr val="bg1"/>
          </a:solidFill>
          <a:ln w="28575">
            <a:solidFill>
              <a:srgbClr val="0F0F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b="1" dirty="0">
              <a:latin typeface="Arial" panose="020B0604020202020204" pitchFamily="34" charset="0"/>
              <a:ea typeface="맑은 고딕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8261350" y="1181100"/>
            <a:ext cx="3378200" cy="508635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0F0F70"/>
                </a:solidFill>
                <a:latin typeface="Arial"/>
                <a:ea typeface="Malgun Gothic"/>
              </a:rPr>
              <a:t>③ Validate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Synthesize and test only the top candidates, return the data, and retrain — a </a:t>
            </a:r>
            <a:r>
              <a:rPr b="1" sz="1700">
                <a:solidFill>
                  <a:srgbClr val="C00000"/>
                </a:solidFill>
                <a:latin typeface="Arial"/>
                <a:ea typeface="Malgun Gothic"/>
              </a:rPr>
              <a:t>closed loop</a:t>
            </a:r>
            <a:r>
              <a:rPr sz="1700" b="0">
                <a:solidFill>
                  <a:srgbClr val="000000"/>
                </a:solidFill>
                <a:latin typeface="Arial"/>
                <a:ea typeface="Malgun Gothic"/>
              </a:rPr>
              <a:t> that accelerates discovery.</a:t>
            </a:r>
          </a:p>
        </p:txBody>
      </p:sp>
      <p:sp>
        <p:nvSpPr>
          <p:cNvPr id="14" name="TextBox 37"/>
          <p:cNvSpPr txBox="1"/>
          <p:nvPr/>
        </p:nvSpPr>
        <p:spPr>
          <a:xfrm>
            <a:off x="400050" y="6534150"/>
            <a:ext cx="11391900" cy="24765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400" i="1">
                <a:solidFill>
                  <a:srgbClr val="697A82"/>
                </a:solidFill>
                <a:latin typeface="Arial"/>
                <a:ea typeface="Malgun Gothic"/>
              </a:rPr>
              <a:t>Case: alloy oxygen-reduction catalysts compressed from </a:t>
            </a:r>
            <a:r>
              <a:rPr b="1" sz="1400" i="1">
                <a:solidFill>
                  <a:srgbClr val="C00000"/>
                </a:solidFill>
                <a:latin typeface="Arial"/>
                <a:ea typeface="Malgun Gothic"/>
              </a:rPr>
              <a:t>10,000 candidates to ~10 experiments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81250"/>
            <a:ext cx="12192000" cy="1905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  <a:ea typeface="Malgun Gothic"/>
              </a:rPr>
              <a:t>Thank You</a:t>
            </a:r>
          </a:p>
          <a:p>
            <a:pPr algn="ctr"/>
            <a:r>
              <a:rPr sz="2000" b="0">
                <a:solidFill>
                  <a:srgbClr val="DCDCE6"/>
                </a:solidFill>
                <a:latin typeface="Arial"/>
                <a:ea typeface="Malgun Gothic"/>
              </a:rPr>
              <a:t>Computation × machine learning narrows the search space of catalyst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