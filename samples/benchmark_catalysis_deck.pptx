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306955"/>
            <a:ext cx="10477500" cy="675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000" b="1">
                <a:solidFill>
                  <a:srgbClr val="0F0F70"/>
                </a:solidFill>
                <a:latin typeface="Arial"/>
                <a:ea typeface="Malgun Gothic"/>
              </a:rPr>
              <a:t>Computational Chemistry for Catalysis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020695"/>
            <a:ext cx="800100" cy="38100"/>
          </a:xfrm>
          <a:prstGeom prst="rect">
            <a:avLst/>
          </a:prstGeom>
          <a:solidFill>
            <a:srgbClr val="C5A8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154045"/>
            <a:ext cx="10477500" cy="406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  <a:ea typeface="Malgun Gothic"/>
              </a:rPr>
              <a:t>Multiscale catalyst design integrating DFT, machine-learning potentials, and descriptors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57900"/>
            <a:ext cx="12192000" cy="8001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6057900"/>
            <a:ext cx="6496050" cy="800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"/>
                <a:ea typeface="Malgun Gothic"/>
              </a:rPr>
              <a:t>Seokhyun Choung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5750" y="6057900"/>
            <a:ext cx="3429000" cy="800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700" b="0">
                <a:solidFill>
                  <a:srgbClr val="FFFFFF"/>
                </a:solidFill>
                <a:latin typeface="Arial"/>
                <a:ea typeface="Malgun Gothic"/>
              </a:rPr>
              <a:t>June 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1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Motivation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1.1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Why Study Catalysis Computationally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모서리가 둥근 직사각형 13"/>
          <p:cNvSpPr/>
          <p:nvPr/>
        </p:nvSpPr>
        <p:spPr>
          <a:xfrm>
            <a:off x="400050" y="1066800"/>
            <a:ext cx="6324600" cy="381000"/>
          </a:xfrm>
          <a:prstGeom prst="roundRect">
            <a:avLst/>
          </a:prstGeom>
          <a:solidFill>
            <a:srgbClr val="0F0F7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>
              <a:lnSpc>
                <a:spcPct val="120000"/>
              </a:lnSpc>
            </a:pPr>
            <a:r>
              <a:rPr lang="en-KR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Reaching what experiments cannot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0050" y="1581150"/>
            <a:ext cx="11391900" cy="122872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C5A86F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Reaction intermediates live for only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ps–ns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, so in-situ observation is hard — computation delivers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atomic-scale snapshots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5A86F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Active-site candidates explode 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10⁴–10⁶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combinations — purely experimental screening is too costly and slow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5A86F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Trace activity and selectivity back to their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electronic-structure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origin, distilling them into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design principles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0050" y="2847975"/>
            <a:ext cx="11391900" cy="7048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→ Computation accelerates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hypothesis generation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and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candidate selection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, letting experiments focus on validation — a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closed loop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Key idea: computation does not replace experiment — it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narrows the search space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2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2.1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A Multiscale Computational Stack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사각형: 둥근 모서리 15"/>
          <p:cNvSpPr/>
          <p:nvPr/>
        </p:nvSpPr>
        <p:spPr>
          <a:xfrm>
            <a:off x="4000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TextBox 34"/>
          <p:cNvSpPr txBox="1"/>
          <p:nvPr/>
        </p:nvSpPr>
        <p:spPr>
          <a:xfrm>
            <a:off x="5524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DFT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Adsorption energies, transition states, and the d-band center from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first principles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. The accuracy benchmark (ground truth), but it stalls at the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few-hundred-atom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scale.</a:t>
            </a:r>
          </a:p>
        </p:txBody>
      </p:sp>
      <p:sp>
        <p:nvSpPr>
          <p:cNvPr id="10" name="사각형: 둥근 모서리 15"/>
          <p:cNvSpPr/>
          <p:nvPr/>
        </p:nvSpPr>
        <p:spPr>
          <a:xfrm>
            <a:off x="425450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TextBox 35"/>
          <p:cNvSpPr txBox="1"/>
          <p:nvPr/>
        </p:nvSpPr>
        <p:spPr>
          <a:xfrm>
            <a:off x="440690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ML Potentials</a:t>
            </a:r>
          </a:p>
          <a:p>
            <a:pPr algn="l"/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MLIPs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(NequIP, MACE) trained on DFT give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DFT accuracy at MD speed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— extending to nanoparticles, dynamics, and ensemble sampling.</a:t>
            </a:r>
          </a:p>
        </p:txBody>
      </p:sp>
      <p:sp>
        <p:nvSpPr>
          <p:cNvPr id="12" name="사각형: 둥근 모서리 15"/>
          <p:cNvSpPr/>
          <p:nvPr/>
        </p:nvSpPr>
        <p:spPr>
          <a:xfrm>
            <a:off x="81089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82613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Microkinetics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Feed computed energies into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rate equations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to compare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turnover frequency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, the rate-determining step, and reaction orders directly with experiment.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A pipeline that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bridges scales</a:t>
            </a:r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 — from atoms to nanoparticles to reactor conditions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3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Design Principle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3.1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Descriptors and Scaling Relations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모서리가 둥근 직사각형 13"/>
          <p:cNvSpPr/>
          <p:nvPr/>
        </p:nvSpPr>
        <p:spPr>
          <a:xfrm>
            <a:off x="400050" y="1066800"/>
            <a:ext cx="9401175" cy="381000"/>
          </a:xfrm>
          <a:prstGeom prst="roundRect">
            <a:avLst/>
          </a:prstGeom>
          <a:solidFill>
            <a:srgbClr val="0F0F7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>
              <a:lnSpc>
                <a:spcPct val="120000"/>
              </a:lnSpc>
            </a:pPr>
            <a:r>
              <a:rPr lang="en-KR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Compressing complex activity into a few variables</a:t>
            </a:r>
          </a:p>
        </p:txBody>
      </p:sp>
      <p:sp>
        <p:nvSpPr>
          <p:cNvPr id="9" name="사각형: 둥근 모서리 15"/>
          <p:cNvSpPr/>
          <p:nvPr/>
        </p:nvSpPr>
        <p:spPr>
          <a:xfrm>
            <a:off x="400050" y="1581150"/>
            <a:ext cx="5610225" cy="209550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TextBox 34"/>
          <p:cNvSpPr txBox="1"/>
          <p:nvPr/>
        </p:nvSpPr>
        <p:spPr>
          <a:xfrm>
            <a:off x="552450" y="1695450"/>
            <a:ext cx="5305425" cy="1866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Scaling relations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Adsorbate energies are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linearly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coupled, so a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single descriptor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(e.g. O binding energy) can predict activity.</a:t>
            </a:r>
          </a:p>
        </p:txBody>
      </p:sp>
      <p:sp>
        <p:nvSpPr>
          <p:cNvPr id="11" name="사각형: 둥근 모서리 15"/>
          <p:cNvSpPr/>
          <p:nvPr/>
        </p:nvSpPr>
        <p:spPr>
          <a:xfrm>
            <a:off x="6181725" y="1581150"/>
            <a:ext cx="5610225" cy="209550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2" name="TextBox 35"/>
          <p:cNvSpPr txBox="1"/>
          <p:nvPr/>
        </p:nvSpPr>
        <p:spPr>
          <a:xfrm>
            <a:off x="6334125" y="1695450"/>
            <a:ext cx="5305425" cy="1866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Sabatier volcano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Bind too weakly and nothing activates; bind too strongly and the surface poisons —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an optimum exists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.</a:t>
            </a:r>
          </a:p>
        </p:txBody>
      </p:sp>
      <p:sp>
        <p:nvSpPr>
          <p:cNvPr id="13" name="TextBox 36"/>
          <p:cNvSpPr txBox="1"/>
          <p:nvPr/>
        </p:nvSpPr>
        <p:spPr>
          <a:xfrm>
            <a:off x="400050" y="3790950"/>
            <a:ext cx="2800350" cy="4000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0F0F70"/>
                </a:solidFill>
                <a:latin typeface="Arial"/>
                <a:ea typeface="Malgun Gothic"/>
              </a:rPr>
              <a:t>1–2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4191000"/>
            <a:ext cx="2800350" cy="2095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97A82"/>
                </a:solidFill>
                <a:latin typeface="Arial"/>
                <a:ea typeface="Malgun Gothic"/>
              </a:rPr>
              <a:t>governing descriptors</a:t>
            </a:r>
          </a:p>
        </p:txBody>
      </p:sp>
      <p:sp>
        <p:nvSpPr>
          <p:cNvPr id="15" name="TextBox 38"/>
          <p:cNvSpPr txBox="1"/>
          <p:nvPr/>
        </p:nvSpPr>
        <p:spPr>
          <a:xfrm>
            <a:off x="3429000" y="3790950"/>
            <a:ext cx="3067050" cy="4000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0F0F70"/>
                </a:solidFill>
                <a:latin typeface="Arial"/>
                <a:ea typeface="Malgun Gothic"/>
              </a:rPr>
              <a:t>&lt;0.2 eV</a:t>
            </a:r>
          </a:p>
        </p:txBody>
      </p:sp>
      <p:sp>
        <p:nvSpPr>
          <p:cNvPr id="16" name="TextBox 39"/>
          <p:cNvSpPr txBox="1"/>
          <p:nvPr/>
        </p:nvSpPr>
        <p:spPr>
          <a:xfrm>
            <a:off x="3429000" y="4191000"/>
            <a:ext cx="3067050" cy="2095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97A82"/>
                </a:solidFill>
                <a:latin typeface="Arial"/>
                <a:ea typeface="Malgun Gothic"/>
              </a:rPr>
              <a:t>target prediction error</a:t>
            </a:r>
          </a:p>
        </p:txBody>
      </p:sp>
      <p:sp>
        <p:nvSpPr>
          <p:cNvPr id="17" name="TextBox 40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Next-generation design targets sites that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break scaling</a:t>
            </a:r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 — multimetallics and interfaces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4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Workflow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4.1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From ML Screening to Experiment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사각형: 둥근 모서리 15"/>
          <p:cNvSpPr/>
          <p:nvPr/>
        </p:nvSpPr>
        <p:spPr>
          <a:xfrm>
            <a:off x="4000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TextBox 34"/>
          <p:cNvSpPr txBox="1"/>
          <p:nvPr/>
        </p:nvSpPr>
        <p:spPr>
          <a:xfrm>
            <a:off x="5524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① Generate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Combine compositions, facets, and defects into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tens of thousands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of candidate structures; pre-filter stability with an MLIP.</a:t>
            </a:r>
          </a:p>
        </p:txBody>
      </p:sp>
      <p:sp>
        <p:nvSpPr>
          <p:cNvPr id="10" name="사각형: 둥근 모서리 15"/>
          <p:cNvSpPr/>
          <p:nvPr/>
        </p:nvSpPr>
        <p:spPr>
          <a:xfrm>
            <a:off x="425450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TextBox 35"/>
          <p:cNvSpPr txBox="1"/>
          <p:nvPr/>
        </p:nvSpPr>
        <p:spPr>
          <a:xfrm>
            <a:off x="440690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② Predict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Regress activity and selectivity with descriptors and graph neural networks;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quantify uncertainty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to actively pick the next calculation (active learning).</a:t>
            </a:r>
          </a:p>
        </p:txBody>
      </p:sp>
      <p:sp>
        <p:nvSpPr>
          <p:cNvPr id="12" name="사각형: 둥근 모서리 15"/>
          <p:cNvSpPr/>
          <p:nvPr/>
        </p:nvSpPr>
        <p:spPr>
          <a:xfrm>
            <a:off x="81089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82613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③ Validate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Synthesize and test only the top candidates, return the data, and retrain — a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closed loop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that accelerates discovery.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Case: alloy oxygen-reduction catalysts compressed from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10,000 candidates to ~10 experiments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81250"/>
            <a:ext cx="12192000" cy="190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  <a:ea typeface="Malgun Gothic"/>
              </a:rPr>
              <a:t>Thank You</a:t>
            </a:r>
          </a:p>
          <a:p>
            <a:pPr algn="ctr"/>
            <a:r>
              <a:rPr sz="2000" b="0">
                <a:solidFill>
                  <a:srgbClr val="DCDCE6"/>
                </a:solidFill>
                <a:latin typeface="Arial"/>
                <a:ea typeface="Malgun Gothic"/>
              </a:rPr>
              <a:t>Computation × machine learning narrows the search space of catalyst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