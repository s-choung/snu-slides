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72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kk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571500"/>
            <a:ext cx="3153659" cy="590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7250" y="2306955"/>
            <a:ext cx="10477500" cy="675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000" b="1">
                <a:solidFill>
                  <a:srgbClr val="072B61"/>
                </a:solidFill>
                <a:latin typeface="Arial"/>
                <a:ea typeface="Malgun Gothic"/>
              </a:rPr>
              <a:t>계산화학을 통한 촉매 연구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020695"/>
            <a:ext cx="800100" cy="3810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3154045"/>
            <a:ext cx="10477500" cy="406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Arial"/>
                <a:ea typeface="Malgun Gothic"/>
              </a:rPr>
              <a:t>DFT · 머신러닝 퍼텐셜 · 디스크립터를 통합한 다중스케일 촉매 설계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057900"/>
            <a:ext cx="12192000" cy="800100"/>
          </a:xfrm>
          <a:prstGeom prst="rect">
            <a:avLst/>
          </a:prstGeom>
          <a:solidFill>
            <a:srgbClr val="072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6057900"/>
            <a:ext cx="649605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  <a:ea typeface="Malgun Gothic"/>
              </a:rPr>
              <a:t>정석현 (Seokhyun Choung)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5750" y="6057900"/>
            <a:ext cx="342900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700" b="0">
                <a:solidFill>
                  <a:srgbClr val="FFFFFF"/>
                </a:solidFill>
                <a:latin typeface="Arial"/>
                <a:ea typeface="Malgun Gothic"/>
              </a:rPr>
              <a:t>2026. 06. 04.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8EFE1">
                  <a:alpha val="100000"/>
                </a:srgbClr>
              </a:gs>
              <a:gs pos="60000">
                <a:srgbClr val="E8EFE1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4193D"/>
              </a:gs>
              <a:gs pos="56000">
                <a:srgbClr val="072B61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1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Motivation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8DC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072B61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1.1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왜 계산화학으로 촉매를 보는가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3248025" cy="381000"/>
          </a:xfrm>
          <a:prstGeom prst="roundRect">
            <a:avLst/>
          </a:prstGeom>
          <a:solidFill>
            <a:srgbClr val="072B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실험만으로는 닿지 않는 영역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0050" y="1581150"/>
            <a:ext cx="11391900" cy="122872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8DC63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반응 중간체의 </a:t>
            </a:r>
            <a:r>
              <a:rPr b="1" sz="1700">
                <a:solidFill>
                  <a:srgbClr val="072B61"/>
                </a:solidFill>
                <a:latin typeface="Arial"/>
                <a:ea typeface="Malgun Gothic"/>
              </a:rPr>
              <a:t>수명이 ps~ns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수준이라 in-situ 관측이 어려움 — 계산은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원자 단위 스냅샷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을 제공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8DC63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활성점 후보가 </a:t>
            </a:r>
            <a:r>
              <a:rPr b="1" sz="1700">
                <a:solidFill>
                  <a:srgbClr val="072B61"/>
                </a:solidFill>
                <a:latin typeface="Arial"/>
                <a:ea typeface="Malgun Gothic"/>
              </a:rPr>
              <a:t>10⁴~10⁶ 조합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으로 폭발 — 실험 스크리닝은 비용·시간이 비현실적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8DC63F"/>
                </a:solidFill>
                <a:latin typeface="Arial"/>
                <a:ea typeface="Malgun Gothic"/>
              </a:rPr>
              <a:t>✓ 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전자구조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에서 활성·선택성의 기원을 직접 추적해 </a:t>
            </a:r>
            <a:r>
              <a:rPr b="1" sz="1700">
                <a:solidFill>
                  <a:srgbClr val="072B61"/>
                </a:solidFill>
                <a:latin typeface="Arial"/>
                <a:ea typeface="Malgun Gothic"/>
              </a:rPr>
              <a:t>설계 원리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로 환원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0050" y="2847975"/>
            <a:ext cx="113919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→ 계산화학은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가설 생성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과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후보 선별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을 가속하고, 실험은 검증에 집중하는 </a:t>
            </a:r>
            <a:r>
              <a:rPr b="1" sz="1700">
                <a:solidFill>
                  <a:srgbClr val="072B61"/>
                </a:solidFill>
                <a:latin typeface="Arial"/>
                <a:ea typeface="Malgun Gothic"/>
              </a:rPr>
              <a:t>closed-loop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를 만든다.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7C7C7C"/>
                </a:solidFill>
                <a:latin typeface="Arial"/>
                <a:ea typeface="Malgun Gothic"/>
              </a:rPr>
              <a:t>핵심: 계산은 실험을 대체하지 않고 </a:t>
            </a:r>
            <a:r>
              <a:rPr b="1" sz="1400" i="1">
                <a:solidFill>
                  <a:srgbClr val="FF6C0F"/>
                </a:solidFill>
                <a:latin typeface="Arial"/>
                <a:ea typeface="Malgun Gothic"/>
              </a:rPr>
              <a:t>탐색 공간을 좁힌다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8EFE1">
                  <a:alpha val="100000"/>
                </a:srgbClr>
              </a:gs>
              <a:gs pos="60000">
                <a:srgbClr val="E8EFE1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4193D"/>
              </a:gs>
              <a:gs pos="56000">
                <a:srgbClr val="072B61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2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8DC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072B61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2.1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다중스케일 계산 스택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72B6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72B61"/>
                </a:solidFill>
                <a:latin typeface="Arial"/>
                <a:ea typeface="Malgun Gothic"/>
              </a:rPr>
              <a:t>DFT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흡착에너지·전이상태·d-band center를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제일원리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로 계산. 정확도 기준점(ground truth)을 제공하지만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수백 원자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규모에서 멈춤.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8DC6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124633"/>
                </a:solidFill>
                <a:latin typeface="Arial"/>
                <a:ea typeface="Malgun Gothic"/>
              </a:rPr>
              <a:t>ML 퍼텐셜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DFT 데이터로 학습한 </a:t>
            </a:r>
            <a:r>
              <a:rPr b="1" sz="1700">
                <a:solidFill>
                  <a:srgbClr val="072B61"/>
                </a:solidFill>
                <a:latin typeface="Arial"/>
                <a:ea typeface="Malgun Gothic"/>
              </a:rPr>
              <a:t>MLIP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(NequIP·MACE)로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DFT 정확도 × MD 속도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. 나노입자·동역학·앙상블 샘플링까지 확장.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72B6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72B61"/>
                </a:solidFill>
                <a:latin typeface="Arial"/>
                <a:ea typeface="Malgun Gothic"/>
              </a:rPr>
              <a:t>Microkinetics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계산된 에너지를 </a:t>
            </a:r>
            <a:r>
              <a:rPr b="1" sz="1700">
                <a:solidFill>
                  <a:srgbClr val="072B61"/>
                </a:solidFill>
                <a:latin typeface="Arial"/>
                <a:ea typeface="Malgun Gothic"/>
              </a:rPr>
              <a:t>반응속도식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에 넣어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turnover frequency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·rate-determining step·반응차수를 실험과 직접 비교.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7C7C7C"/>
                </a:solidFill>
                <a:latin typeface="Arial"/>
                <a:ea typeface="Malgun Gothic"/>
              </a:rPr>
              <a:t>원자 → 나노입자 → 반응기 조건까지 </a:t>
            </a:r>
            <a:r>
              <a:rPr b="1" sz="1400" i="1">
                <a:solidFill>
                  <a:srgbClr val="FF6C0F"/>
                </a:solidFill>
                <a:latin typeface="Arial"/>
                <a:ea typeface="Malgun Gothic"/>
              </a:rPr>
              <a:t>스케일을 잇는</a:t>
            </a:r>
            <a:r>
              <a:rPr sz="1400" i="1">
                <a:solidFill>
                  <a:srgbClr val="7C7C7C"/>
                </a:solidFill>
                <a:latin typeface="Arial"/>
                <a:ea typeface="Malgun Gothic"/>
              </a:rPr>
              <a:t> 파이프라인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8EFE1">
                  <a:alpha val="100000"/>
                </a:srgbClr>
              </a:gs>
              <a:gs pos="60000">
                <a:srgbClr val="E8EFE1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4193D"/>
              </a:gs>
              <a:gs pos="56000">
                <a:srgbClr val="072B61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3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Design Principle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8DC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072B61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3.1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디스크립터와 스케일링 관계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3971925" cy="381000"/>
          </a:xfrm>
          <a:prstGeom prst="roundRect">
            <a:avLst/>
          </a:prstGeom>
          <a:solidFill>
            <a:srgbClr val="072B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복잡한 활성을 몇 개의 변수로 압축</a:t>
            </a:r>
          </a:p>
        </p:txBody>
      </p:sp>
      <p:sp>
        <p:nvSpPr>
          <p:cNvPr id="9" name="사각형: 둥근 모서리 15"/>
          <p:cNvSpPr/>
          <p:nvPr/>
        </p:nvSpPr>
        <p:spPr>
          <a:xfrm>
            <a:off x="400050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72B6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TextBox 34"/>
          <p:cNvSpPr txBox="1"/>
          <p:nvPr/>
        </p:nvSpPr>
        <p:spPr>
          <a:xfrm>
            <a:off x="552450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72B61"/>
                </a:solidFill>
                <a:latin typeface="Arial"/>
                <a:ea typeface="Malgun Gothic"/>
              </a:rPr>
              <a:t>스케일링 관계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흡착종 에너지들이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선형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으로 묶여, </a:t>
            </a:r>
            <a:r>
              <a:rPr b="1" sz="1700">
                <a:solidFill>
                  <a:srgbClr val="072B61"/>
                </a:solidFill>
                <a:latin typeface="Arial"/>
                <a:ea typeface="Malgun Gothic"/>
              </a:rPr>
              <a:t>단일 디스크립터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(예: O 흡착에너지)만으로 활성 예측이 가능하다.</a:t>
            </a:r>
          </a:p>
        </p:txBody>
      </p:sp>
      <p:sp>
        <p:nvSpPr>
          <p:cNvPr id="11" name="사각형: 둥근 모서리 15"/>
          <p:cNvSpPr/>
          <p:nvPr/>
        </p:nvSpPr>
        <p:spPr>
          <a:xfrm>
            <a:off x="6181725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8DC6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2" name="TextBox 35"/>
          <p:cNvSpPr txBox="1"/>
          <p:nvPr/>
        </p:nvSpPr>
        <p:spPr>
          <a:xfrm>
            <a:off x="6334125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124633"/>
                </a:solidFill>
                <a:latin typeface="Arial"/>
                <a:ea typeface="Malgun Gothic"/>
              </a:rPr>
              <a:t>Sabatier 화산형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결합이 너무 약하면 활성화 못 하고, 너무 강하면 피독 —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활성에는 최적점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이 존재한다.</a:t>
            </a:r>
          </a:p>
        </p:txBody>
      </p:sp>
      <p:sp>
        <p:nvSpPr>
          <p:cNvPr id="13" name="TextBox 36"/>
          <p:cNvSpPr txBox="1"/>
          <p:nvPr/>
        </p:nvSpPr>
        <p:spPr>
          <a:xfrm>
            <a:off x="400050" y="3790950"/>
            <a:ext cx="1333500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72B61"/>
                </a:solidFill>
                <a:latin typeface="Arial"/>
                <a:ea typeface="Malgun Gothic"/>
              </a:rPr>
              <a:t>1~2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4191000"/>
            <a:ext cx="1333500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7C7C7C"/>
                </a:solidFill>
                <a:latin typeface="Arial"/>
                <a:ea typeface="Malgun Gothic"/>
              </a:rPr>
              <a:t>지배 디스크립터 수</a:t>
            </a:r>
          </a:p>
        </p:txBody>
      </p:sp>
      <p:sp>
        <p:nvSpPr>
          <p:cNvPr id="15" name="TextBox 38"/>
          <p:cNvSpPr txBox="1"/>
          <p:nvPr/>
        </p:nvSpPr>
        <p:spPr>
          <a:xfrm>
            <a:off x="1962150" y="3790950"/>
            <a:ext cx="1400175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72B61"/>
                </a:solidFill>
                <a:latin typeface="Arial"/>
                <a:ea typeface="Malgun Gothic"/>
              </a:rPr>
              <a:t>&lt;0.2 eV</a:t>
            </a:r>
          </a:p>
        </p:txBody>
      </p:sp>
      <p:sp>
        <p:nvSpPr>
          <p:cNvPr id="16" name="TextBox 39"/>
          <p:cNvSpPr txBox="1"/>
          <p:nvPr/>
        </p:nvSpPr>
        <p:spPr>
          <a:xfrm>
            <a:off x="1962150" y="4191000"/>
            <a:ext cx="1400175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7C7C7C"/>
                </a:solidFill>
                <a:latin typeface="Arial"/>
                <a:ea typeface="Malgun Gothic"/>
              </a:rPr>
              <a:t>목표 예측 오차</a:t>
            </a:r>
          </a:p>
        </p:txBody>
      </p:sp>
      <p:sp>
        <p:nvSpPr>
          <p:cNvPr id="17" name="TextBox 40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7C7C7C"/>
                </a:solidFill>
                <a:latin typeface="Arial"/>
                <a:ea typeface="Malgun Gothic"/>
              </a:rPr>
              <a:t>스케일링의 </a:t>
            </a:r>
            <a:r>
              <a:rPr b="1" sz="1400" i="1">
                <a:solidFill>
                  <a:srgbClr val="FF6C0F"/>
                </a:solidFill>
                <a:latin typeface="Arial"/>
                <a:ea typeface="Malgun Gothic"/>
              </a:rPr>
              <a:t>한계를 깨는</a:t>
            </a:r>
            <a:r>
              <a:rPr sz="1400" i="1">
                <a:solidFill>
                  <a:srgbClr val="7C7C7C"/>
                </a:solidFill>
                <a:latin typeface="Arial"/>
                <a:ea typeface="Malgun Gothic"/>
              </a:rPr>
              <a:t> 비선형 활성점(다중금속·계면)이 차세대 설계의 표적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8EFE1">
                  <a:alpha val="100000"/>
                </a:srgbClr>
              </a:gs>
              <a:gs pos="60000">
                <a:srgbClr val="E8EFE1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4193D"/>
              </a:gs>
              <a:gs pos="56000">
                <a:srgbClr val="072B61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4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Workflow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8DC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072B61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4.1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ML 스크리닝 → 실험 검증 루프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72B6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72B61"/>
                </a:solidFill>
                <a:latin typeface="Arial"/>
                <a:ea typeface="Malgun Gothic"/>
              </a:rPr>
              <a:t>① 생성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조성·표면·결함을 조합해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수만 개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구조 후보를 자동 생성하고 MLIP로 안정성 1차 필터.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8DC6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124633"/>
                </a:solidFill>
                <a:latin typeface="Arial"/>
                <a:ea typeface="Malgun Gothic"/>
              </a:rPr>
              <a:t>② 예측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디스크립터·그래프 신경망으로 활성·선택성을 회귀,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불확실성 정량화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로 다음 계산을 능동 선택(active learning).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72B6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72B61"/>
                </a:solidFill>
                <a:latin typeface="Arial"/>
                <a:ea typeface="Malgun Gothic"/>
              </a:rPr>
              <a:t>③ 검증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상위 후보만 합성·평가해 데이터를 회수, 모델을 재학습하는 </a:t>
            </a:r>
            <a:r>
              <a:rPr b="1" sz="1700">
                <a:solidFill>
                  <a:srgbClr val="124633"/>
                </a:solidFill>
                <a:latin typeface="Arial"/>
                <a:ea typeface="Malgun Gothic"/>
              </a:rPr>
              <a:t>closed-loop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로 발견을 가속.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7C7C7C"/>
                </a:solidFill>
                <a:latin typeface="Arial"/>
                <a:ea typeface="Malgun Gothic"/>
              </a:rPr>
              <a:t>사례: 합금 산소환원 촉매에서 </a:t>
            </a:r>
            <a:r>
              <a:rPr b="1" sz="1400" i="1">
                <a:solidFill>
                  <a:srgbClr val="FF6C0F"/>
                </a:solidFill>
                <a:latin typeface="Arial"/>
                <a:ea typeface="Malgun Gothic"/>
              </a:rPr>
              <a:t>후보 1만 → 실험 10여 개</a:t>
            </a:r>
            <a:r>
              <a:rPr sz="1400" i="1">
                <a:solidFill>
                  <a:srgbClr val="7C7C7C"/>
                </a:solidFill>
                <a:latin typeface="Arial"/>
                <a:ea typeface="Malgun Gothic"/>
              </a:rPr>
              <a:t>로 압축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2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81250"/>
            <a:ext cx="12192000" cy="190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  <a:ea typeface="Malgun Gothic"/>
              </a:rPr>
              <a:t>Thank You</a:t>
            </a:r>
          </a:p>
          <a:p>
            <a:pPr algn="ctr"/>
            <a:r>
              <a:rPr sz="2000" b="0">
                <a:solidFill>
                  <a:srgbClr val="DCDCE6"/>
                </a:solidFill>
                <a:latin typeface="Arial"/>
                <a:ea typeface="Malgun Gothic"/>
              </a:rPr>
              <a:t>계산화학 × 머신러닝으로 촉매 설계의 탐색 공간을 좁힌다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